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7" d="100"/>
          <a:sy n="67" d="100"/>
        </p:scale>
        <p:origin x="566" y="23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63928-BD95-33DA-08FF-922A3C35FE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569413-4188-FE86-50A9-7419B26439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2466D0-A8D3-5FE3-E39C-8C6D32A2F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B6EB-E9AD-4747-8341-9DE2F772E22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BA8A7-872C-BDF1-8C0F-433E99731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5D4FC-C124-173B-7993-2E9490857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C28-01EF-4E4C-A0CB-D0B75B4A4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2325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7287D-29F4-A6E9-1886-5311B610C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17099-3E1E-1CD3-8BEF-7447D2F465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5F342D-959C-0CE1-04C7-26B8DB720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B6EB-E9AD-4747-8341-9DE2F772E22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9CF3-E143-FF81-6C75-F6197DABB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6AD39-552A-33AE-52DF-804ED4AB8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C28-01EF-4E4C-A0CB-D0B75B4A4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865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7B3A3-26E8-769C-C627-9A4669A94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60CAEA-867B-5B2E-7400-B40DE8C704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B5D1E9-8C37-8824-4F09-32ED5D84E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B6EB-E9AD-4747-8341-9DE2F772E22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CA837-EDE6-B33A-2FC6-C6EC6ED71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610B6-A205-94CA-A241-5547341C6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C28-01EF-4E4C-A0CB-D0B75B4A4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09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920DC-C34A-F0B9-3841-43F2B5012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C1549-285C-82C9-840E-A883CDB26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7CED60-ABC5-8433-51B3-C65868093A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F0E0C6-15B7-77D0-C044-DBF53643A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B6EB-E9AD-4747-8341-9DE2F772E22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2343B1-D906-1280-B21F-49DC5C1B1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1646F9-F92D-BDE3-BB9B-84AA1D205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C28-01EF-4E4C-A0CB-D0B75B4A4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532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20120-6667-B7DB-9EF6-9319A9451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3E026-E081-812C-B096-4BC96948D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D5E682-0590-C2AC-F7DE-055D22BDA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BBCAB8-EF83-02C8-4BB5-74896513D4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61B34C-282F-C47D-B823-72FFE6093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36DEC-87D2-BAA5-7152-DF3BAAA5F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B6EB-E9AD-4747-8341-9DE2F772E22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7D2532-A562-FBF4-4748-B5A83A37A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928A45-AC75-5F69-41BC-8EDE00013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C28-01EF-4E4C-A0CB-D0B75B4A4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35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39861-C314-6452-E95B-F752FA3DF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ECE90C-CBBE-D2E6-5649-5F61D6B0E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B6EB-E9AD-4747-8341-9DE2F772E22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34816-CFEF-CD93-8D06-964707DD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DC5F16-5309-355E-B35D-97BDB19D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C28-01EF-4E4C-A0CB-D0B75B4A4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358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814B28-E8C8-6C67-4078-CA8F0F9C5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B6EB-E9AD-4747-8341-9DE2F772E22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256708-C76A-0982-C6CA-75AA4E028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E46B00-95B3-FDFF-4669-339CFA3F9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C28-01EF-4E4C-A0CB-D0B75B4A4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132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25D53-D0B8-82A3-94E3-E0846E891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86E6F-8193-4B90-4A47-AB96C73D7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83A8D3-5DE7-FC32-9E99-A498F87C2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A65E-4AC4-6789-0B34-A272585DE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B6EB-E9AD-4747-8341-9DE2F772E22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6A800B-542E-8FC6-9A4A-0BAF5B61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900949-75BD-8955-C6E4-B4FE710BD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C28-01EF-4E4C-A0CB-D0B75B4A4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174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64469-7ABD-7FEA-FC9A-1DA914992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D2AF87-D662-6720-A7C5-330D04D798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495942-B4FC-B2B9-3DF9-A63020A3D1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9B2E1-0F0F-C702-83B8-E3A81585FC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B6EB-E9AD-4747-8341-9DE2F772E22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F3BACE-6002-4794-D04E-374A597E7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AE6A5-25F0-EE58-B4CD-8F5B74C4F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C28-01EF-4E4C-A0CB-D0B75B4A4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0442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B4196-27ED-0319-4DBF-788F06FA1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33BC04-F386-19EB-ACEB-0BE5C10815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729081-6F46-CEDE-7736-2E23F566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B6EB-E9AD-4747-8341-9DE2F772E22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4F881-C324-F165-F844-7D9EF217B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55333-01CC-61E0-B122-3815EF17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C28-01EF-4E4C-A0CB-D0B75B4A4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395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212B14-29FA-33C4-9F40-7E855FD8A9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483E5E-438A-FC74-F073-DEDEA095E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B75A5-FF22-95D7-1FFF-3F29C265A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BFB6EB-E9AD-4747-8341-9DE2F772E22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7D5B85-9D27-E812-4C40-F185ECE1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50962-A495-24DE-28C3-05D893C32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5D0C28-01EF-4E4C-A0CB-D0B75B4A4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9831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8FE2E-4E34-FD87-0F8F-B6CF720F1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C0DA1D-688C-CC76-7D12-FDFEA1EC6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0723F-D255-4A57-6DC3-A963F46616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FB6EB-E9AD-4747-8341-9DE2F772E22F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D78AA-56EC-BE67-5B26-C6B4D65FEC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64FBF-FBA0-9EB6-7DDE-032EE7B763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5D0C28-01EF-4E4C-A0CB-D0B75B4A4B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977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cyb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EFA0-781E-3AA1-CC19-D43637A40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" y="67549"/>
            <a:ext cx="6755130" cy="2628899"/>
          </a:xfrm>
        </p:spPr>
        <p:txBody>
          <a:bodyPr>
            <a:normAutofit/>
          </a:bodyPr>
          <a:lstStyle/>
          <a:p>
            <a:r>
              <a:rPr lang="en-GB" sz="4400" b="1" dirty="0">
                <a:solidFill>
                  <a:schemeClr val="bg1"/>
                </a:solidFill>
                <a:latin typeface="Arial "/>
              </a:rPr>
              <a:t>PHISHING AWARENESS TRAINING</a:t>
            </a:r>
            <a:endParaRPr lang="en-US" sz="4400" b="1" dirty="0">
              <a:solidFill>
                <a:schemeClr val="bg1"/>
              </a:solidFill>
              <a:latin typeface="Arial 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DAEC9-4899-C01A-C691-5252DE9F73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870" y="3429000"/>
            <a:ext cx="9144000" cy="2628898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bg1"/>
                </a:solidFill>
                <a:latin typeface="Georgia" panose="02040502050405020303" pitchFamily="18" charset="0"/>
              </a:rPr>
              <a:t>Learn to identify, Avoid and Report Phishing Attacks</a:t>
            </a:r>
          </a:p>
          <a:p>
            <a:endParaRPr lang="en-GB" dirty="0">
              <a:solidFill>
                <a:schemeClr val="bg1"/>
              </a:solidFill>
              <a:latin typeface="Georgia" panose="02040502050405020303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Georgia" panose="02040502050405020303" pitchFamily="18" charset="0"/>
              </a:rPr>
              <a:t>Prepared by: </a:t>
            </a:r>
            <a:r>
              <a:rPr lang="en-US" dirty="0" err="1">
                <a:solidFill>
                  <a:schemeClr val="bg1"/>
                </a:solidFill>
                <a:latin typeface="Georgia" panose="02040502050405020303" pitchFamily="18" charset="0"/>
              </a:rPr>
              <a:t>Olaore</a:t>
            </a:r>
            <a:r>
              <a:rPr lang="en-US" dirty="0">
                <a:solidFill>
                  <a:schemeClr val="bg1"/>
                </a:solidFill>
                <a:latin typeface="Georgia" panose="02040502050405020303" pitchFamily="18" charset="0"/>
              </a:rPr>
              <a:t> Aaliyah Olamide</a:t>
            </a:r>
          </a:p>
          <a:p>
            <a:r>
              <a:rPr lang="en-US" dirty="0">
                <a:solidFill>
                  <a:schemeClr val="bg1"/>
                </a:solidFill>
                <a:latin typeface="Georgia" panose="02040502050405020303" pitchFamily="18" charset="0"/>
              </a:rPr>
              <a:t>Cybersecurity internship - </a:t>
            </a:r>
            <a:r>
              <a:rPr lang="en-US" dirty="0" err="1">
                <a:solidFill>
                  <a:schemeClr val="bg1"/>
                </a:solidFill>
                <a:latin typeface="Georgia" panose="02040502050405020303" pitchFamily="18" charset="0"/>
              </a:rPr>
              <a:t>CodeAlpha</a:t>
            </a:r>
            <a:endParaRPr lang="en-US" dirty="0">
              <a:solidFill>
                <a:schemeClr val="bg1"/>
              </a:solidFill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EB8CC8-6F9D-0D14-37B2-22AECA681A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789544" y="0"/>
            <a:ext cx="4402456" cy="2754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721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58B4A-11C7-599C-3F56-B120C8364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What is Phishing</a:t>
            </a:r>
            <a:r>
              <a:rPr lang="en-GB" dirty="0">
                <a:latin typeface="Bahnschrift Condensed" panose="020B0502040204020203" pitchFamily="34" charset="0"/>
              </a:rPr>
              <a:t>?</a:t>
            </a:r>
            <a:endParaRPr lang="en-US" dirty="0">
              <a:latin typeface="Bahnschrift Condensed" panose="020B05020402040202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F4A71-6516-E51A-46DE-96384628AC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560" y="1825625"/>
            <a:ext cx="10937240" cy="422973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Phishing is a type of cyberattack where an attacker pretends to be a    trusted person or organization to trick someone into sharing sensitive information. Attackers often use convincing looking emails and websites that appear to be legitimate.</a:t>
            </a:r>
          </a:p>
          <a:p>
            <a:pPr marL="0" indent="0">
              <a:buNone/>
            </a:pPr>
            <a:r>
              <a:rPr lang="en-GB" dirty="0"/>
              <a:t> Phishing can be used to steal:</a:t>
            </a:r>
          </a:p>
          <a:p>
            <a:pPr marL="0" indent="0">
              <a:buNone/>
            </a:pPr>
            <a:r>
              <a:rPr lang="en-GB" dirty="0"/>
              <a:t>- Passwords</a:t>
            </a:r>
          </a:p>
          <a:p>
            <a:pPr marL="0" indent="0">
              <a:buNone/>
            </a:pPr>
            <a:r>
              <a:rPr lang="en-GB" dirty="0"/>
              <a:t>- Bank or account information </a:t>
            </a:r>
          </a:p>
          <a:p>
            <a:pPr>
              <a:buFontTx/>
              <a:buChar char="-"/>
            </a:pPr>
            <a:r>
              <a:rPr lang="en-GB" dirty="0"/>
              <a:t>Personal information </a:t>
            </a:r>
          </a:p>
          <a:p>
            <a:pPr marL="0" indent="0">
              <a:buNone/>
            </a:pPr>
            <a:r>
              <a:rPr lang="en-GB" dirty="0"/>
              <a:t>- Login details</a:t>
            </a:r>
          </a:p>
          <a:p>
            <a:pPr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527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51D69-E107-853A-6A5C-FC34FA45E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Types of Phishing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5A5A53-AFF6-FA28-2A52-3EA4D2211E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lvl="1" indent="0">
              <a:buNone/>
            </a:pPr>
            <a:r>
              <a:rPr lang="en-GB" dirty="0">
                <a:latin typeface="Georgia" panose="02040502050405020303" pitchFamily="18" charset="0"/>
              </a:rPr>
              <a:t>Content:</a:t>
            </a:r>
          </a:p>
          <a:p>
            <a:pPr marL="457200" lvl="1" indent="0">
              <a:buNone/>
            </a:pPr>
            <a:r>
              <a:rPr lang="en-GB" dirty="0"/>
              <a:t>1. Email Phishing</a:t>
            </a:r>
          </a:p>
          <a:p>
            <a:pPr marL="457200" lvl="1" indent="0">
              <a:buNone/>
            </a:pPr>
            <a:r>
              <a:rPr lang="en-GB" dirty="0"/>
              <a:t>    Attackers send fake emails that appear as if there were sent by a trusted</a:t>
            </a:r>
          </a:p>
          <a:p>
            <a:pPr marL="457200" lvl="1" indent="0">
              <a:buNone/>
            </a:pPr>
            <a:r>
              <a:rPr lang="en-GB" dirty="0"/>
              <a:t>    organization.</a:t>
            </a:r>
          </a:p>
          <a:p>
            <a:pPr marL="457200" lvl="1" indent="0">
              <a:buNone/>
            </a:pPr>
            <a:r>
              <a:rPr lang="en-GB" dirty="0"/>
              <a:t>2. Spear Phishing</a:t>
            </a:r>
          </a:p>
          <a:p>
            <a:pPr marL="457200" lvl="1" indent="0">
              <a:buNone/>
            </a:pPr>
            <a:r>
              <a:rPr lang="en-GB" dirty="0"/>
              <a:t>    A targeted</a:t>
            </a:r>
            <a:r>
              <a:rPr lang="en-US" dirty="0"/>
              <a:t> phishing attack designed specifically for a particular person or</a:t>
            </a:r>
          </a:p>
          <a:p>
            <a:pPr marL="457200" lvl="1" indent="0">
              <a:buNone/>
            </a:pPr>
            <a:r>
              <a:rPr lang="en-US" dirty="0"/>
              <a:t> </a:t>
            </a:r>
            <a:r>
              <a:rPr lang="en-GB" dirty="0"/>
              <a:t>   organization.</a:t>
            </a:r>
          </a:p>
          <a:p>
            <a:pPr marL="457200" lvl="1" indent="0">
              <a:buNone/>
            </a:pPr>
            <a:r>
              <a:rPr lang="en-GB" dirty="0"/>
              <a:t>3. Smishing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r>
              <a:rPr lang="en-US" dirty="0"/>
              <a:t>    Phishing attacks sent through SMS or other text messages.</a:t>
            </a:r>
          </a:p>
          <a:p>
            <a:pPr marL="457200" lvl="1" indent="0">
              <a:buNone/>
            </a:pPr>
            <a:r>
              <a:rPr lang="en-US" dirty="0"/>
              <a:t>4. Vishing </a:t>
            </a:r>
          </a:p>
          <a:p>
            <a:pPr marL="457200" lvl="1" indent="0">
              <a:buNone/>
            </a:pPr>
            <a:r>
              <a:rPr lang="en-US" dirty="0"/>
              <a:t>    Phishing attacks carried out through phone calls or voice messages.</a:t>
            </a:r>
            <a:endParaRPr lang="en-GB" dirty="0"/>
          </a:p>
        </p:txBody>
      </p:sp>
      <p:pic>
        <p:nvPicPr>
          <p:cNvPr id="7" name="Graphic 6" descr="Envelope with solid fill">
            <a:extLst>
              <a:ext uri="{FF2B5EF4-FFF2-40B4-BE49-F238E27FC236}">
                <a16:creationId xmlns:a16="http://schemas.microsoft.com/office/drawing/2014/main" id="{B5C5EF57-660D-848A-EE82-82ADDAACA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35654" y="2895599"/>
            <a:ext cx="616585" cy="616585"/>
          </a:xfrm>
          <a:prstGeom prst="rect">
            <a:avLst/>
          </a:prstGeom>
        </p:spPr>
      </p:pic>
      <p:pic>
        <p:nvPicPr>
          <p:cNvPr id="9" name="Graphic 8" descr="Smart Phone with solid fill">
            <a:extLst>
              <a:ext uri="{FF2B5EF4-FFF2-40B4-BE49-F238E27FC236}">
                <a16:creationId xmlns:a16="http://schemas.microsoft.com/office/drawing/2014/main" id="{B0510AE3-9F2C-4AF8-5A98-488B9C760C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743440" y="5597843"/>
            <a:ext cx="914400" cy="57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785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F2EA8-A0E1-2560-4388-6BBB30540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How Phishing Attacks Work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66886-E565-3102-56AD-20E004C88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>
                <a:latin typeface="Georgia" panose="02040502050405020303" pitchFamily="18" charset="0"/>
              </a:rPr>
              <a:t>Contents:</a:t>
            </a:r>
          </a:p>
          <a:p>
            <a:pPr marL="0" indent="0">
              <a:buNone/>
            </a:pPr>
            <a:r>
              <a:rPr lang="en-GB" dirty="0"/>
              <a:t>  1. Create a Fake Message</a:t>
            </a:r>
          </a:p>
          <a:p>
            <a:pPr marL="0" indent="0">
              <a:buNone/>
            </a:pPr>
            <a:r>
              <a:rPr lang="en-GB" dirty="0"/>
              <a:t>      The attacker creates a convincing e-mail, text message or websites.</a:t>
            </a:r>
          </a:p>
          <a:p>
            <a:pPr marL="0" indent="0">
              <a:buNone/>
            </a:pPr>
            <a:r>
              <a:rPr lang="en-GB" dirty="0"/>
              <a:t>  2. Impersonate a Trusted Source</a:t>
            </a:r>
          </a:p>
          <a:p>
            <a:pPr marL="0" indent="0">
              <a:buNone/>
            </a:pPr>
            <a:r>
              <a:rPr lang="en-GB" dirty="0"/>
              <a:t>       The message may appear to come from a legitimate person or organization.</a:t>
            </a:r>
          </a:p>
          <a:p>
            <a:pPr marL="0" indent="0">
              <a:buNone/>
            </a:pPr>
            <a:r>
              <a:rPr lang="en-GB" dirty="0"/>
              <a:t>3. It Create a Sense of Urgency</a:t>
            </a:r>
          </a:p>
          <a:p>
            <a:pPr marL="0" indent="0">
              <a:buNone/>
            </a:pPr>
            <a:r>
              <a:rPr lang="en-GB" dirty="0"/>
              <a:t>        The attacker may pressure the victim to act quickly.</a:t>
            </a:r>
          </a:p>
          <a:p>
            <a:pPr marL="0" indent="0">
              <a:buNone/>
            </a:pPr>
            <a:r>
              <a:rPr lang="en-GB" dirty="0"/>
              <a:t>   4. Trick the Victim</a:t>
            </a:r>
          </a:p>
          <a:p>
            <a:pPr marL="0" indent="0">
              <a:buNone/>
            </a:pPr>
            <a:r>
              <a:rPr lang="en-GB" dirty="0"/>
              <a:t>        The victim may be encouraged to click a link, or provide sensitive information.</a:t>
            </a:r>
          </a:p>
          <a:p>
            <a:pPr marL="0" indent="0">
              <a:buNone/>
            </a:pPr>
            <a:r>
              <a:rPr lang="en-GB" dirty="0"/>
              <a:t>5.  Steal Information</a:t>
            </a:r>
          </a:p>
          <a:p>
            <a:pPr marL="0" indent="0">
              <a:buNone/>
            </a:pPr>
            <a:r>
              <a:rPr lang="en-GB" dirty="0"/>
              <a:t>         The attacker may use the information for unauthorized  access or other harmful activities.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006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4E0B5-D790-75A1-BAA9-D10F5157F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Common Warning Signs of Phishing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48CB6-C5B6-CCCD-6643-3061BF5CC1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GB" dirty="0">
                <a:latin typeface="Georgia" panose="02040502050405020303" pitchFamily="18" charset="0"/>
              </a:rPr>
              <a:t>Content:</a:t>
            </a:r>
          </a:p>
          <a:p>
            <a:pPr marL="514350" indent="-514350">
              <a:buAutoNum type="arabicPeriod"/>
            </a:pPr>
            <a:r>
              <a:rPr lang="en-US" dirty="0"/>
              <a:t>Suspicious Sender: The sender’s address may look unusual or unfamiliar.</a:t>
            </a:r>
          </a:p>
          <a:p>
            <a:pPr marL="514350" indent="-514350">
              <a:buAutoNum type="arabicPeriod"/>
            </a:pPr>
            <a:r>
              <a:rPr lang="en-US" dirty="0"/>
              <a:t>Urgent or Threatening Language: The message pressures you to act immediately.</a:t>
            </a:r>
          </a:p>
          <a:p>
            <a:pPr marL="514350" indent="-514350">
              <a:buAutoNum type="arabicPeriod"/>
            </a:pPr>
            <a:r>
              <a:rPr lang="en-US" dirty="0"/>
              <a:t>Unexpected Links or Attachments: Be cautious of links or files you were not expecting.</a:t>
            </a:r>
          </a:p>
          <a:p>
            <a:pPr marL="514350" indent="-514350">
              <a:buAutoNum type="arabicPeriod"/>
            </a:pPr>
            <a:r>
              <a:rPr lang="en-US" dirty="0"/>
              <a:t>Request for Sensitive Information: Legitimate organization generally do not ask for passwords or other sensitive information through unexpected messages.</a:t>
            </a:r>
          </a:p>
          <a:p>
            <a:pPr marL="0" indent="0">
              <a:buNone/>
            </a:pPr>
            <a:r>
              <a:rPr lang="en-US" dirty="0"/>
              <a:t>5.     Spelling and Grammar Errors: Poorly written messages can be a warning sign.</a:t>
            </a:r>
          </a:p>
          <a:p>
            <a:pPr marL="0" indent="0">
              <a:buNone/>
            </a:pPr>
            <a:r>
              <a:rPr lang="en-US" dirty="0"/>
              <a:t>6.     Suspicious URLs: The link may lead to a website with an unfamiliar or</a:t>
            </a:r>
          </a:p>
          <a:p>
            <a:pPr marL="0" indent="0">
              <a:buNone/>
            </a:pPr>
            <a:r>
              <a:rPr lang="en-US" dirty="0"/>
              <a:t>        misleading domain. </a:t>
            </a:r>
          </a:p>
        </p:txBody>
      </p:sp>
    </p:spTree>
    <p:extLst>
      <p:ext uri="{BB962C8B-B14F-4D97-AF65-F5344CB8AC3E}">
        <p14:creationId xmlns:p14="http://schemas.microsoft.com/office/powerpoint/2010/main" val="1438418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50445-7222-70CE-F733-56BCA855A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Social Engineering Tactics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EBF2E-4FA8-D0E4-7075-2117EFFC0A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600" y="1581784"/>
            <a:ext cx="10515600" cy="535749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dirty="0">
                <a:latin typeface="Georgia" panose="02040502050405020303" pitchFamily="18" charset="0"/>
              </a:rPr>
              <a:t>Content:</a:t>
            </a:r>
          </a:p>
          <a:p>
            <a:pPr marL="514350" indent="-514350">
              <a:buAutoNum type="arabicPeriod"/>
            </a:pPr>
            <a:r>
              <a:rPr lang="en-GB" dirty="0"/>
              <a:t>Urgency: Creating pressure so the victim feels they must act immediately.</a:t>
            </a:r>
          </a:p>
          <a:p>
            <a:pPr marL="514350" indent="-514350">
              <a:buAutoNum type="arabicPeriod"/>
            </a:pPr>
            <a:r>
              <a:rPr lang="en-GB" dirty="0"/>
              <a:t>Fear: Using threats or warnings to encourage quick action.</a:t>
            </a:r>
          </a:p>
          <a:p>
            <a:pPr marL="514350" indent="-514350">
              <a:buAutoNum type="arabicPeriod"/>
            </a:pPr>
            <a:r>
              <a:rPr lang="en-GB" dirty="0"/>
              <a:t>Authority: Pretending to be a manager, company, bank or other trusted authority.</a:t>
            </a:r>
          </a:p>
          <a:p>
            <a:pPr marL="514350" indent="-514350">
              <a:buAutoNum type="arabicPeriod"/>
            </a:pPr>
            <a:r>
              <a:rPr lang="en-GB" dirty="0"/>
              <a:t>Curiosity: Using interesting or unexpected messages to encourage the victim to click a link or open a file.</a:t>
            </a:r>
          </a:p>
          <a:p>
            <a:pPr marL="514350" indent="-514350">
              <a:buAutoNum type="arabicPeriod"/>
            </a:pPr>
            <a:r>
              <a:rPr lang="en-GB" dirty="0"/>
              <a:t>Trust: Building confidence by pretending to be someone the victim knows. </a:t>
            </a:r>
          </a:p>
          <a:p>
            <a:pPr marL="514350" indent="-514350"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en-GB" dirty="0">
                <a:latin typeface="Georgia" panose="02040502050405020303" pitchFamily="18" charset="0"/>
              </a:rPr>
              <a:t>   Key Points:</a:t>
            </a:r>
          </a:p>
          <a:p>
            <a:pPr marL="0" indent="0">
              <a:buNone/>
            </a:pPr>
            <a:r>
              <a:rPr lang="en-GB" dirty="0"/>
              <a:t> Attackers use psychological manipulation to influence people into making</a:t>
            </a:r>
          </a:p>
          <a:p>
            <a:pPr marL="0" indent="0">
              <a:buNone/>
            </a:pPr>
            <a:r>
              <a:rPr lang="en-GB" dirty="0"/>
              <a:t> unsafe decisions.</a:t>
            </a:r>
          </a:p>
          <a:p>
            <a:pPr marL="514350" indent="-514350">
              <a:buAutoNum type="arabicPeriod"/>
            </a:pPr>
            <a:endParaRPr lang="en-GB" dirty="0"/>
          </a:p>
          <a:p>
            <a:pPr marL="514350" indent="-514350">
              <a:buAutoNum type="arabicPeriod"/>
            </a:pPr>
            <a:endParaRPr lang="en-GB" dirty="0"/>
          </a:p>
          <a:p>
            <a:pPr marL="514350" indent="-514350">
              <a:buAutoNum type="arabicPeriod"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514350" indent="-514350"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889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93B32-E622-52A3-10E8-D499AC0BF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How to Protect Yourself from Phishing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47973-D343-8880-A238-7088FBB22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/>
              <a:t> </a:t>
            </a:r>
            <a:r>
              <a:rPr lang="en-GB" dirty="0">
                <a:latin typeface="Georgia" panose="02040502050405020303" pitchFamily="18" charset="0"/>
              </a:rPr>
              <a:t>Content:</a:t>
            </a:r>
          </a:p>
          <a:p>
            <a:pPr marL="514350" indent="-514350">
              <a:buAutoNum type="arabicPeriod"/>
            </a:pPr>
            <a:r>
              <a:rPr lang="en-GB" dirty="0"/>
              <a:t>Verify the Sender: Check the sender’s email address or contact information carefully.</a:t>
            </a:r>
          </a:p>
          <a:p>
            <a:pPr marL="514350" indent="-514350">
              <a:buAutoNum type="arabicPeriod"/>
            </a:pPr>
            <a:r>
              <a:rPr lang="en-GB" dirty="0"/>
              <a:t>Avoid Suspicious Links: Do not click links unless you are confident they are legitimate.</a:t>
            </a:r>
          </a:p>
          <a:p>
            <a:pPr marL="514350" indent="-514350">
              <a:buAutoNum type="arabicPeriod"/>
            </a:pPr>
            <a:r>
              <a:rPr lang="en-GB" dirty="0"/>
              <a:t>Use Multi Factor Authentication(MFA):Add an extra layer of security to your accounts.</a:t>
            </a:r>
          </a:p>
          <a:p>
            <a:pPr marL="514350" indent="-514350">
              <a:buAutoNum type="arabicPeriod"/>
            </a:pPr>
            <a:r>
              <a:rPr lang="en-GB" dirty="0"/>
              <a:t>Keep Software Updated: Install security updates and patches regularly.</a:t>
            </a:r>
          </a:p>
          <a:p>
            <a:pPr marL="514350" indent="-514350">
              <a:buAutoNum type="arabicPeriod"/>
            </a:pPr>
            <a:r>
              <a:rPr lang="en-GB" dirty="0"/>
              <a:t>Use Strong, Unique Passwords: Avoid reusing the same passwords across different</a:t>
            </a:r>
          </a:p>
          <a:p>
            <a:pPr marL="0" indent="0">
              <a:buNone/>
            </a:pPr>
            <a:r>
              <a:rPr lang="en-GB" dirty="0"/>
              <a:t>        accounts.</a:t>
            </a:r>
          </a:p>
          <a:p>
            <a:pPr marL="514350" indent="-514350">
              <a:buAutoNum type="arabicPeriod" startAt="7"/>
            </a:pPr>
            <a:r>
              <a:rPr lang="en-GB" dirty="0"/>
              <a:t>Report Suspicious Messages: Report suspected phishing attempts to the appropriate</a:t>
            </a:r>
          </a:p>
          <a:p>
            <a:pPr marL="0" indent="0">
              <a:buNone/>
            </a:pPr>
            <a:r>
              <a:rPr lang="en-GB" dirty="0"/>
              <a:t>        organization or administration.</a:t>
            </a:r>
          </a:p>
          <a:p>
            <a:pPr marL="514350" indent="-514350">
              <a:buAutoNum type="arabicPeriod"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 </a:t>
            </a:r>
            <a:r>
              <a:rPr lang="en-GB" dirty="0">
                <a:latin typeface="Georgia" panose="02040502050405020303" pitchFamily="18" charset="0"/>
              </a:rPr>
              <a:t>Key Point:</a:t>
            </a:r>
          </a:p>
          <a:p>
            <a:pPr marL="0" indent="0">
              <a:buNone/>
            </a:pPr>
            <a:r>
              <a:rPr lang="en-GB" dirty="0"/>
              <a:t>Think before you click. When in doubt, verify first.</a:t>
            </a:r>
          </a:p>
        </p:txBody>
      </p:sp>
    </p:spTree>
    <p:extLst>
      <p:ext uri="{BB962C8B-B14F-4D97-AF65-F5344CB8AC3E}">
        <p14:creationId xmlns:p14="http://schemas.microsoft.com/office/powerpoint/2010/main" val="2976303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0DACE-5039-1B68-5A65-E1494AE7F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What to do if you Receive a Phishing Message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655149-DE39-4656-FB7C-3BCE3F59D4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GB" dirty="0">
                <a:latin typeface="Georgia" panose="02040502050405020303" pitchFamily="18" charset="0"/>
              </a:rPr>
              <a:t>Content:</a:t>
            </a:r>
          </a:p>
          <a:p>
            <a:pPr marL="514350" indent="-514350">
              <a:buAutoNum type="arabicPeriod"/>
            </a:pPr>
            <a:r>
              <a:rPr lang="en-GB" dirty="0"/>
              <a:t>Do Not Respond: Avoid replying or providing any personal information.</a:t>
            </a:r>
          </a:p>
          <a:p>
            <a:pPr marL="514350" indent="-514350">
              <a:buAutoNum type="arabicPeriod"/>
            </a:pPr>
            <a:r>
              <a:rPr lang="en-GB" dirty="0"/>
              <a:t>Do Not Click: Avoid clicking suspicious links  or opening unexpected attachments.</a:t>
            </a:r>
          </a:p>
          <a:p>
            <a:pPr marL="514350" indent="-514350">
              <a:buAutoNum type="arabicPeriod"/>
            </a:pPr>
            <a:r>
              <a:rPr lang="en-GB" dirty="0"/>
              <a:t>Verify the Message: Contact the organization through an official channel if you are</a:t>
            </a:r>
          </a:p>
          <a:p>
            <a:pPr marL="0" indent="0">
              <a:buNone/>
            </a:pPr>
            <a:r>
              <a:rPr lang="en-GB" dirty="0"/>
              <a:t>        unsure.</a:t>
            </a:r>
          </a:p>
          <a:p>
            <a:pPr marL="0" indent="0">
              <a:buNone/>
            </a:pPr>
            <a:r>
              <a:rPr lang="en-GB" dirty="0"/>
              <a:t>4.     Report the Message: Report suspected phishing to your email provider, organization,</a:t>
            </a:r>
          </a:p>
          <a:p>
            <a:pPr marL="0" indent="0">
              <a:buNone/>
            </a:pPr>
            <a:r>
              <a:rPr lang="en-GB" dirty="0"/>
              <a:t>        or relevant security team.</a:t>
            </a:r>
          </a:p>
          <a:p>
            <a:pPr marL="0" indent="0">
              <a:buNone/>
            </a:pPr>
            <a:r>
              <a:rPr lang="en-GB" dirty="0"/>
              <a:t>5.     Delete the Message: Remove the suspicious message after reporting it.</a:t>
            </a:r>
          </a:p>
          <a:p>
            <a:pPr marL="0" indent="0">
              <a:buNone/>
            </a:pPr>
            <a:r>
              <a:rPr lang="en-GB" dirty="0"/>
              <a:t> 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  </a:t>
            </a:r>
            <a:r>
              <a:rPr lang="en-GB" dirty="0">
                <a:latin typeface="Georgia" panose="02040502050405020303" pitchFamily="18" charset="0"/>
              </a:rPr>
              <a:t>Key Point:</a:t>
            </a:r>
          </a:p>
          <a:p>
            <a:pPr marL="0" indent="0">
              <a:buNone/>
            </a:pPr>
            <a:r>
              <a:rPr lang="en-GB" dirty="0"/>
              <a:t>When something looks suspicious, stop and verify before taking action.</a:t>
            </a:r>
          </a:p>
        </p:txBody>
      </p:sp>
    </p:spTree>
    <p:extLst>
      <p:ext uri="{BB962C8B-B14F-4D97-AF65-F5344CB8AC3E}">
        <p14:creationId xmlns:p14="http://schemas.microsoft.com/office/powerpoint/2010/main" val="1594860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7EB1-904B-8FF3-62D9-099D1296E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REAL-WORLD PHISHING 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426BA-F5DE-A726-937A-9C180F113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347336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sz="3200" dirty="0">
                <a:latin typeface="Georgia" panose="02040502050405020303" pitchFamily="18" charset="0"/>
              </a:rPr>
              <a:t>Content:</a:t>
            </a:r>
          </a:p>
          <a:p>
            <a:pPr marL="0" indent="0">
              <a:buNone/>
            </a:pPr>
            <a:r>
              <a:rPr lang="en-GB" sz="3200" dirty="0">
                <a:latin typeface="Georgia" panose="02040502050405020303" pitchFamily="18" charset="0"/>
              </a:rPr>
              <a:t>      Scenario:</a:t>
            </a:r>
          </a:p>
          <a:p>
            <a:pPr marL="0" indent="0">
              <a:buNone/>
            </a:pPr>
            <a:r>
              <a:rPr lang="en-GB" dirty="0"/>
              <a:t> An employee receives an email claiming that their account needs to be</a:t>
            </a:r>
          </a:p>
          <a:p>
            <a:pPr marL="0" indent="0">
              <a:buNone/>
            </a:pPr>
            <a:r>
              <a:rPr lang="en-GB" dirty="0"/>
              <a:t> verified immediately. The message contains a link to a website that looks</a:t>
            </a:r>
          </a:p>
          <a:p>
            <a:pPr marL="0" indent="0">
              <a:buNone/>
            </a:pPr>
            <a:r>
              <a:rPr lang="en-GB" dirty="0"/>
              <a:t> legitimate.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US" dirty="0"/>
              <a:t>      </a:t>
            </a:r>
            <a:r>
              <a:rPr lang="en-US" sz="3200" dirty="0">
                <a:latin typeface="Georgia" panose="02040502050405020303" pitchFamily="18" charset="0"/>
              </a:rPr>
              <a:t>Warning Sign:</a:t>
            </a:r>
          </a:p>
          <a:p>
            <a:r>
              <a:rPr lang="en-US" dirty="0"/>
              <a:t>The message creates a sense of urgency.</a:t>
            </a:r>
          </a:p>
          <a:p>
            <a:r>
              <a:rPr lang="en-US" dirty="0"/>
              <a:t>The sender’s address looks unusual.</a:t>
            </a:r>
          </a:p>
          <a:p>
            <a:r>
              <a:rPr lang="en-US" dirty="0"/>
              <a:t>The link leads to a suspicious websites.</a:t>
            </a:r>
          </a:p>
          <a:p>
            <a:r>
              <a:rPr lang="en-US" dirty="0"/>
              <a:t>The message request sensitive information.</a:t>
            </a:r>
          </a:p>
          <a:p>
            <a:pPr marL="0" indent="0">
              <a:buNone/>
            </a:pPr>
            <a:r>
              <a:rPr lang="en-US" dirty="0"/>
              <a:t>     </a:t>
            </a:r>
          </a:p>
          <a:p>
            <a:pPr marL="0" indent="0">
              <a:buNone/>
            </a:pPr>
            <a:r>
              <a:rPr lang="en-US" sz="3200" dirty="0"/>
              <a:t>       </a:t>
            </a:r>
            <a:r>
              <a:rPr lang="en-US" sz="3200" dirty="0">
                <a:latin typeface="Georgia" panose="02040502050405020303" pitchFamily="18" charset="0"/>
              </a:rPr>
              <a:t>Lesson:</a:t>
            </a:r>
          </a:p>
          <a:p>
            <a:pPr marL="0" indent="0">
              <a:buNone/>
            </a:pPr>
            <a:r>
              <a:rPr lang="en-US" dirty="0"/>
              <a:t>Aways verify unexpected request through an official channel before taking action. Thus, this keeps the example</a:t>
            </a:r>
          </a:p>
          <a:p>
            <a:pPr marL="0" indent="0">
              <a:buNone/>
            </a:pPr>
            <a:r>
              <a:rPr lang="en-US" dirty="0"/>
              <a:t>realistic while focusing on awareness rather than showing instructions for carrying out a phishing attack.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6569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E86A0-E650-E223-BB2E-279E187CF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Phishing Awareness Quiz</a:t>
            </a:r>
            <a:endParaRPr lang="en-US" dirty="0">
              <a:latin typeface="Georgia" panose="020405020504050203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643DC-FFAF-8417-F9B3-7CA34CCE6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GB" sz="10000" dirty="0">
                <a:latin typeface="Georgia" panose="02040502050405020303" pitchFamily="18" charset="0"/>
              </a:rPr>
              <a:t>Content:</a:t>
            </a:r>
          </a:p>
          <a:p>
            <a:pPr marL="514350" indent="-514350">
              <a:buAutoNum type="arabicPeriod"/>
            </a:pPr>
            <a:r>
              <a:rPr lang="en-GB" sz="8000" dirty="0"/>
              <a:t>What is Phishing?</a:t>
            </a:r>
          </a:p>
          <a:p>
            <a:pPr marL="514350" indent="-514350">
              <a:buAutoNum type="alphaUcPeriod"/>
            </a:pPr>
            <a:r>
              <a:rPr lang="en-GB" sz="8000" dirty="0"/>
              <a:t>A type of computer hardware</a:t>
            </a:r>
          </a:p>
          <a:p>
            <a:pPr marL="514350" indent="-514350">
              <a:buAutoNum type="alphaUcPeriod"/>
            </a:pPr>
            <a:r>
              <a:rPr lang="en-GB" sz="8000" dirty="0"/>
              <a:t>A cyberattack that uses deception to obtain information</a:t>
            </a:r>
          </a:p>
          <a:p>
            <a:pPr marL="514350" indent="-514350">
              <a:buAutoNum type="alphaUcPeriod"/>
            </a:pPr>
            <a:r>
              <a:rPr lang="en-GB" sz="8000" dirty="0"/>
              <a:t>A method of updating software</a:t>
            </a:r>
          </a:p>
          <a:p>
            <a:pPr marL="514350" indent="-514350">
              <a:buAutoNum type="alphaUcPeriod"/>
            </a:pPr>
            <a:r>
              <a:rPr lang="en-GB" sz="8000" dirty="0"/>
              <a:t>A type of antivirus software</a:t>
            </a:r>
          </a:p>
          <a:p>
            <a:pPr marL="0" indent="0">
              <a:buNone/>
            </a:pPr>
            <a:endParaRPr lang="en-GB" sz="8000" dirty="0"/>
          </a:p>
          <a:p>
            <a:pPr marL="0" indent="0">
              <a:buNone/>
            </a:pPr>
            <a:r>
              <a:rPr lang="en-GB" sz="8000" dirty="0"/>
              <a:t>2. Which is a warning sign of phishing?</a:t>
            </a:r>
          </a:p>
          <a:p>
            <a:pPr marL="514350" indent="-514350">
              <a:buAutoNum type="alphaUcPeriod"/>
            </a:pPr>
            <a:r>
              <a:rPr lang="en-GB" sz="8000" dirty="0"/>
              <a:t>An unexpected urgent message </a:t>
            </a:r>
          </a:p>
          <a:p>
            <a:pPr marL="514350" indent="-514350">
              <a:buAutoNum type="alphaUcPeriod"/>
            </a:pPr>
            <a:r>
              <a:rPr lang="en-GB" sz="8000" dirty="0"/>
              <a:t>A regular software</a:t>
            </a:r>
            <a:r>
              <a:rPr lang="en-US" sz="8000" dirty="0"/>
              <a:t> update</a:t>
            </a:r>
          </a:p>
          <a:p>
            <a:pPr marL="514350" indent="-514350">
              <a:buAutoNum type="alphaUcPeriod"/>
            </a:pPr>
            <a:r>
              <a:rPr lang="en-US" sz="8000" dirty="0"/>
              <a:t>A known contact sending a normal message</a:t>
            </a:r>
          </a:p>
          <a:p>
            <a:pPr marL="514350" indent="-514350">
              <a:buAutoNum type="alphaUcPeriod"/>
            </a:pPr>
            <a:r>
              <a:rPr lang="en-US" sz="8000" dirty="0"/>
              <a:t>A saved document</a:t>
            </a:r>
          </a:p>
          <a:p>
            <a:pPr marL="0" indent="0">
              <a:buNone/>
            </a:pPr>
            <a:endParaRPr lang="en-US" sz="8000" dirty="0"/>
          </a:p>
        </p:txBody>
      </p:sp>
    </p:spTree>
    <p:extLst>
      <p:ext uri="{BB962C8B-B14F-4D97-AF65-F5344CB8AC3E}">
        <p14:creationId xmlns:p14="http://schemas.microsoft.com/office/powerpoint/2010/main" val="286621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B3EAF6-3B82-3D35-2B46-E9B6CA0D3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960" y="75249"/>
            <a:ext cx="10515600" cy="1325563"/>
          </a:xfrm>
        </p:spPr>
        <p:txBody>
          <a:bodyPr/>
          <a:lstStyle/>
          <a:p>
            <a:r>
              <a:rPr lang="en-GB" dirty="0">
                <a:latin typeface="Georgia" panose="02040502050405020303" pitchFamily="18" charset="0"/>
              </a:rPr>
              <a:t>Phishing Awareness Quiz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2B3325-56B4-82C2-6C04-46778FD0B4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" y="1906904"/>
            <a:ext cx="10515600" cy="483933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8000" dirty="0"/>
              <a:t>3. What should we do with a suspicious link?</a:t>
            </a:r>
          </a:p>
          <a:p>
            <a:pPr marL="514350" indent="-514350">
              <a:buAutoNum type="alphaUcPeriod"/>
            </a:pPr>
            <a:r>
              <a:rPr lang="en-US" sz="8000" dirty="0"/>
              <a:t>Click it to check where it goes </a:t>
            </a:r>
          </a:p>
          <a:p>
            <a:pPr marL="514350" indent="-514350">
              <a:buAutoNum type="alphaUcPeriod"/>
            </a:pPr>
            <a:r>
              <a:rPr lang="en-US" sz="8000" dirty="0"/>
              <a:t>Forward it to friends</a:t>
            </a:r>
          </a:p>
          <a:p>
            <a:pPr marL="514350" indent="-514350">
              <a:buAutoNum type="alphaUcPeriod"/>
            </a:pPr>
            <a:r>
              <a:rPr lang="en-US" sz="8000" dirty="0"/>
              <a:t>Avoid clicking and verify the message</a:t>
            </a:r>
          </a:p>
          <a:p>
            <a:pPr marL="514350" indent="-514350">
              <a:buAutoNum type="alphaUcPeriod"/>
            </a:pPr>
            <a:r>
              <a:rPr lang="en-US" sz="8000" dirty="0"/>
              <a:t>Enter your information</a:t>
            </a:r>
          </a:p>
          <a:p>
            <a:pPr marL="0" indent="0">
              <a:buNone/>
            </a:pPr>
            <a:r>
              <a:rPr lang="en-US" sz="8000" dirty="0"/>
              <a:t>4. What does MFA provide?</a:t>
            </a:r>
          </a:p>
          <a:p>
            <a:pPr marL="514350" indent="-514350">
              <a:buAutoNum type="alphaUcPeriod"/>
            </a:pPr>
            <a:r>
              <a:rPr lang="en-US" sz="8000" dirty="0"/>
              <a:t>An additional layer of account security </a:t>
            </a:r>
          </a:p>
          <a:p>
            <a:pPr marL="514350" indent="-514350">
              <a:buAutoNum type="alphaUcPeriod"/>
            </a:pPr>
            <a:r>
              <a:rPr lang="en-US" sz="8000" dirty="0"/>
              <a:t>Faster internet</a:t>
            </a:r>
          </a:p>
          <a:p>
            <a:pPr marL="514350" indent="-514350">
              <a:buAutoNum type="alphaUcPeriod"/>
            </a:pPr>
            <a:r>
              <a:rPr lang="en-US" sz="8000" dirty="0"/>
              <a:t>More storage space</a:t>
            </a:r>
          </a:p>
          <a:p>
            <a:pPr marL="514350" indent="-514350">
              <a:buAutoNum type="alphaUcPeriod"/>
            </a:pPr>
            <a:r>
              <a:rPr lang="en-US" sz="8000" dirty="0"/>
              <a:t>Automatic email replies</a:t>
            </a:r>
          </a:p>
          <a:p>
            <a:pPr marL="514350" indent="-514350">
              <a:buAutoNum type="alphaUcPeriod"/>
            </a:pPr>
            <a:endParaRPr lang="en-US" sz="8000" dirty="0"/>
          </a:p>
          <a:p>
            <a:pPr marL="0" indent="0">
              <a:buNone/>
            </a:pPr>
            <a:r>
              <a:rPr lang="en-US" sz="8000" dirty="0">
                <a:latin typeface="Georgia" panose="02040502050405020303" pitchFamily="18" charset="0"/>
              </a:rPr>
              <a:t>Key Takeaway</a:t>
            </a:r>
          </a:p>
          <a:p>
            <a:pPr marL="0" indent="0">
              <a:buNone/>
            </a:pPr>
            <a:r>
              <a:rPr lang="en-US" sz="8000" dirty="0">
                <a:latin typeface="Arial Black" panose="020B0A04020102020204" pitchFamily="34" charset="0"/>
              </a:rPr>
              <a:t>STOP-THINK VERIFY-REPORT</a:t>
            </a:r>
          </a:p>
        </p:txBody>
      </p:sp>
    </p:spTree>
    <p:extLst>
      <p:ext uri="{BB962C8B-B14F-4D97-AF65-F5344CB8AC3E}">
        <p14:creationId xmlns:p14="http://schemas.microsoft.com/office/powerpoint/2010/main" val="12600523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C51DAF-9A1F-5457-B721-DCE5FA1FDF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370" y="28257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                   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US" dirty="0"/>
              <a:t>                           </a:t>
            </a:r>
            <a:r>
              <a:rPr lang="en-US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  <a:p>
            <a:pPr marL="0" indent="0">
              <a:buNone/>
            </a:pPr>
            <a:endParaRPr lang="en-US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44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  <a:cs typeface="Arial" panose="020B0604020202020204" pitchFamily="34" charset="0"/>
              </a:rPr>
              <a:t>                      Stay alert. Think before you click</a:t>
            </a:r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F72EAB-7DA2-721C-FC47-9F4483720C67}"/>
              </a:ext>
            </a:extLst>
          </p:cNvPr>
          <p:cNvSpPr/>
          <p:nvPr/>
        </p:nvSpPr>
        <p:spPr>
          <a:xfrm>
            <a:off x="0" y="5943600"/>
            <a:ext cx="12192000" cy="9144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406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</TotalTime>
  <Words>928</Words>
  <Application>Microsoft Office PowerPoint</Application>
  <PresentationFormat>Widescreen</PresentationFormat>
  <Paragraphs>143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Arial </vt:lpstr>
      <vt:lpstr>Arial Black</vt:lpstr>
      <vt:lpstr>Bahnschrift Condensed</vt:lpstr>
      <vt:lpstr>Calibri</vt:lpstr>
      <vt:lpstr>Calibri Light</vt:lpstr>
      <vt:lpstr>Georgia</vt:lpstr>
      <vt:lpstr>Office Theme</vt:lpstr>
      <vt:lpstr>PHISHING AWARENESS TRAINING</vt:lpstr>
      <vt:lpstr>What is Phishing?</vt:lpstr>
      <vt:lpstr>Types of Phishing</vt:lpstr>
      <vt:lpstr>How Phishing Attacks Work</vt:lpstr>
      <vt:lpstr>Common Warning Signs of Phishing</vt:lpstr>
      <vt:lpstr>Social Engineering Tactics</vt:lpstr>
      <vt:lpstr>How to Protect Yourself from Phishing</vt:lpstr>
      <vt:lpstr>What to do if you Receive a Phishing Message</vt:lpstr>
      <vt:lpstr>REAL-WORLD PHISHING EXAMPLE</vt:lpstr>
      <vt:lpstr>Phishing Awareness Quiz</vt:lpstr>
      <vt:lpstr>Phishing Awareness Quiz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</dc:creator>
  <cp:lastModifiedBy>pc</cp:lastModifiedBy>
  <cp:revision>5</cp:revision>
  <dcterms:created xsi:type="dcterms:W3CDTF">2026-09-06T18:49:40Z</dcterms:created>
  <dcterms:modified xsi:type="dcterms:W3CDTF">2026-09-07T22:49:27Z</dcterms:modified>
</cp:coreProperties>
</file>